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88" r:id="rId1"/>
  </p:sldMasterIdLst>
  <p:sldIdLst>
    <p:sldId id="289" r:id="rId2"/>
    <p:sldId id="257" r:id="rId3"/>
    <p:sldId id="294" r:id="rId4"/>
    <p:sldId id="274" r:id="rId5"/>
    <p:sldId id="260" r:id="rId6"/>
    <p:sldId id="261" r:id="rId7"/>
    <p:sldId id="295" r:id="rId8"/>
    <p:sldId id="290" r:id="rId9"/>
    <p:sldId id="291" r:id="rId10"/>
    <p:sldId id="292" r:id="rId11"/>
    <p:sldId id="312" r:id="rId12"/>
    <p:sldId id="313" r:id="rId13"/>
    <p:sldId id="314" r:id="rId14"/>
    <p:sldId id="293" r:id="rId15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74" userDrawn="1">
          <p15:clr>
            <a:srgbClr val="A4A3A4"/>
          </p15:clr>
        </p15:guide>
        <p15:guide id="2" pos="21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75" d="100"/>
          <a:sy n="75" d="100"/>
        </p:scale>
        <p:origin x="1560" y="-612"/>
      </p:cViewPr>
      <p:guideLst>
        <p:guide orient="horz" pos="2874"/>
        <p:guide pos="219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8940800"/>
            <a:ext cx="6858000" cy="2032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6743700" y="4064"/>
            <a:ext cx="114300" cy="9144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14300" cy="9144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6858000" cy="3352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09728" y="8522209"/>
            <a:ext cx="6624828" cy="412751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028700" y="3759200"/>
            <a:ext cx="4800600" cy="23368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B837-E82F-4AA9-859C-A278F30BC3A3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16586" y="3226816"/>
            <a:ext cx="6624828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14300" y="203200"/>
            <a:ext cx="6624828" cy="8729472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3200400" y="2820416"/>
            <a:ext cx="457200" cy="8128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3271266" y="2946400"/>
            <a:ext cx="315468" cy="560832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3257550" y="2932601"/>
            <a:ext cx="342900" cy="588433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4C1B994-9EE2-4A27-8133-CB17443E2F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14350" y="508000"/>
            <a:ext cx="5829300" cy="23368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B837-E82F-4AA9-859C-A278F30BC3A3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271266" y="1368497"/>
            <a:ext cx="342900" cy="588433"/>
          </a:xfrm>
        </p:spPr>
        <p:txBody>
          <a:bodyPr/>
          <a:lstStyle/>
          <a:p>
            <a:fld id="{34C1B994-9EE2-4A27-8133-CB17443E2F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226314" y="2036064"/>
            <a:ext cx="6377940" cy="6096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14300" cy="9144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8940800"/>
            <a:ext cx="6858000" cy="2032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6858000" cy="2032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6743700" y="25400"/>
            <a:ext cx="114300" cy="9144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4300" y="3048000"/>
            <a:ext cx="6624828" cy="406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16586" y="189803"/>
            <a:ext cx="6624828" cy="2852928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6319" y="3657601"/>
            <a:ext cx="4860131" cy="2230967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09728" y="8522209"/>
            <a:ext cx="6624828" cy="412751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14300" y="203200"/>
            <a:ext cx="6624828" cy="8729472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B837-E82F-4AA9-859C-A278F30BC3A3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14300" y="3251200"/>
            <a:ext cx="6624828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3200400" y="2820416"/>
            <a:ext cx="457200" cy="8128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3271266" y="2946400"/>
            <a:ext cx="315468" cy="560832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257550" y="2932601"/>
            <a:ext cx="342900" cy="588433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4C1B994-9EE2-4A27-8133-CB17443E2F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711200"/>
            <a:ext cx="5829300" cy="2032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314" y="304800"/>
            <a:ext cx="6400800" cy="1011936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343400" y="8546592"/>
            <a:ext cx="2283714" cy="487680"/>
          </a:xfrm>
        </p:spPr>
        <p:txBody>
          <a:bodyPr/>
          <a:lstStyle/>
          <a:p>
            <a:fld id="{D247B837-E82F-4AA9-859C-A278F30BC3A3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1B994-9EE2-4A27-8133-CB17443E2F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3422310" y="2100870"/>
            <a:ext cx="6691" cy="6426076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226314" y="1828800"/>
            <a:ext cx="3028950" cy="6242304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3600450" y="1828800"/>
            <a:ext cx="3028950" cy="6242304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3429000" y="2933700"/>
            <a:ext cx="0" cy="5583936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6858000" cy="1930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8940800"/>
            <a:ext cx="6858000" cy="2032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14300" cy="9144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6743700" y="0"/>
            <a:ext cx="114300" cy="9144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14300" y="1828800"/>
            <a:ext cx="6624828" cy="12192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09442" y="8522208"/>
            <a:ext cx="6624828" cy="414528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" y="2032000"/>
            <a:ext cx="3030141" cy="977299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3593498" y="2032000"/>
            <a:ext cx="3031331" cy="97536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B837-E82F-4AA9-859C-A278F30BC3A3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28600" y="8546592"/>
            <a:ext cx="2686050" cy="48768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14300" y="1706880"/>
            <a:ext cx="6624828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14300" y="207264"/>
            <a:ext cx="6624828" cy="8729472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226314" y="3295178"/>
            <a:ext cx="3031236" cy="5091205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3600450" y="3295177"/>
            <a:ext cx="3028950" cy="5096256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3200400" y="1274715"/>
            <a:ext cx="457200" cy="8128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3271266" y="1400699"/>
            <a:ext cx="315468" cy="560832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257550" y="1389889"/>
            <a:ext cx="342900" cy="588433"/>
          </a:xfrm>
        </p:spPr>
        <p:txBody>
          <a:bodyPr/>
          <a:lstStyle>
            <a:lvl1pPr algn="ctr">
              <a:defRPr/>
            </a:lvl1pPr>
          </a:lstStyle>
          <a:p>
            <a:fld id="{34C1B994-9EE2-4A27-8133-CB17443E2F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B837-E82F-4AA9-859C-A278F30BC3A3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257550" y="1381361"/>
            <a:ext cx="342900" cy="588433"/>
          </a:xfrm>
        </p:spPr>
        <p:txBody>
          <a:bodyPr/>
          <a:lstStyle/>
          <a:p>
            <a:fld id="{34C1B994-9EE2-4A27-8133-CB17443E2F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8940800"/>
            <a:ext cx="6858000" cy="2032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6858000" cy="207264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6743700" y="0"/>
            <a:ext cx="114300" cy="9144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14300" cy="9144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9728" y="8522209"/>
            <a:ext cx="6624828" cy="412751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4300" y="211328"/>
            <a:ext cx="6624828" cy="8729472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B837-E82F-4AA9-859C-A278F30BC3A3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200400" y="8432800"/>
            <a:ext cx="457200" cy="588432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4C1B994-9EE2-4A27-8133-CB17443E2F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14300" y="203200"/>
            <a:ext cx="6624828" cy="4064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8940800"/>
            <a:ext cx="6858000" cy="2032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6743700" y="0"/>
            <a:ext cx="114300" cy="9144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6858000" cy="158496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14300" cy="9144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14300" y="812800"/>
            <a:ext cx="2057400" cy="78232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1219200"/>
            <a:ext cx="1771650" cy="13208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285750" y="2641601"/>
            <a:ext cx="1771650" cy="5526617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14300" y="203200"/>
            <a:ext cx="6624828" cy="8729472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4300" y="711200"/>
            <a:ext cx="6624828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2343150" y="914400"/>
            <a:ext cx="4229100" cy="7213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971550" y="304800"/>
            <a:ext cx="457200" cy="8128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042416" y="430784"/>
            <a:ext cx="315468" cy="560832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8700" y="416985"/>
            <a:ext cx="342900" cy="588433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4C1B994-9EE2-4A27-8133-CB17443E2F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12014" y="8517847"/>
            <a:ext cx="6624828" cy="412751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B837-E82F-4AA9-859C-A278F30BC3A3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6314" y="8547797"/>
            <a:ext cx="2537460" cy="48768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14300" y="711200"/>
            <a:ext cx="6624828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8940800"/>
            <a:ext cx="6858000" cy="2032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6743700" y="0"/>
            <a:ext cx="114300" cy="9144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6858000" cy="2032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14300" cy="9144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14300" y="203200"/>
            <a:ext cx="6624828" cy="40233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14300" y="812800"/>
            <a:ext cx="2057400" cy="78232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14300" y="207264"/>
            <a:ext cx="6624828" cy="8729472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971550" y="304800"/>
            <a:ext cx="457200" cy="8128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042416" y="430784"/>
            <a:ext cx="315468" cy="560832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8700" y="416985"/>
            <a:ext cx="342900" cy="588433"/>
          </a:xfrm>
        </p:spPr>
        <p:txBody>
          <a:bodyPr/>
          <a:lstStyle/>
          <a:p>
            <a:fld id="{34C1B994-9EE2-4A27-8133-CB17443E2F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0281" y="6705600"/>
            <a:ext cx="4400550" cy="16256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50281" y="812800"/>
            <a:ext cx="4400550" cy="56896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750" y="1320800"/>
            <a:ext cx="1828800" cy="70104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12014" y="8517847"/>
            <a:ext cx="6624828" cy="412751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341114" y="8539979"/>
            <a:ext cx="2283714" cy="487680"/>
          </a:xfrm>
        </p:spPr>
        <p:txBody>
          <a:bodyPr/>
          <a:lstStyle/>
          <a:p>
            <a:fld id="{D247B837-E82F-4AA9-859C-A278F30BC3A3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6314" y="8547797"/>
            <a:ext cx="2688336" cy="48768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B837-E82F-4AA9-859C-A278F30BC3A3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1B994-9EE2-4A27-8133-CB17443E2F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8940800"/>
            <a:ext cx="6858000" cy="2032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5257800" y="0"/>
            <a:ext cx="1600200" cy="9144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6858000" cy="207264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14300" cy="9144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09728" y="8522209"/>
            <a:ext cx="6624828" cy="412751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14300" y="207264"/>
            <a:ext cx="6624828" cy="8729472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1194816" y="4370832"/>
            <a:ext cx="8327136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5129784" y="3901017"/>
            <a:ext cx="457200" cy="8128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5200650" y="4027001"/>
            <a:ext cx="315468" cy="560832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86934" y="4013202"/>
            <a:ext cx="342900" cy="588433"/>
          </a:xfrm>
        </p:spPr>
        <p:txBody>
          <a:bodyPr/>
          <a:lstStyle/>
          <a:p>
            <a:fld id="{34C1B994-9EE2-4A27-8133-CB17443E2F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406400"/>
            <a:ext cx="4914900" cy="776182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B837-E82F-4AA9-859C-A278F30BC3A3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43550" y="406402"/>
            <a:ext cx="1085850" cy="780203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8940800"/>
            <a:ext cx="6858000" cy="2032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1"/>
            <a:ext cx="6858000" cy="185782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14300" cy="9144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6743700" y="0"/>
            <a:ext cx="114300" cy="9144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12014" y="8517847"/>
            <a:ext cx="6624828" cy="412751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343400" y="8539979"/>
            <a:ext cx="2283714" cy="48768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D247B837-E82F-4AA9-859C-A278F30BC3A3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28600" y="8547797"/>
            <a:ext cx="2686050" cy="48768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14300" y="207264"/>
            <a:ext cx="6624828" cy="8729472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4300" y="1702324"/>
            <a:ext cx="6624828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3200400" y="1274715"/>
            <a:ext cx="457200" cy="8128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3271266" y="1400699"/>
            <a:ext cx="315468" cy="560832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3257550" y="1386900"/>
            <a:ext cx="342900" cy="588433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4C1B994-9EE2-4A27-8133-CB17443E2F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226314" y="304800"/>
            <a:ext cx="6400800" cy="1011936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26314" y="2032000"/>
            <a:ext cx="6400800" cy="613257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@VELIMELA</a:t>
            </a:r>
          </a:p>
          <a:p>
            <a:r>
              <a:rPr lang="en-US" dirty="0"/>
              <a:t>EAST &amp; WEST VILLAS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MANTOOR INFRA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08EE6D-53A5-E98B-0BCE-E07B3FDB548B}"/>
              </a:ext>
            </a:extLst>
          </p:cNvPr>
          <p:cNvPicPr/>
          <p:nvPr/>
        </p:nvPicPr>
        <p:blipFill>
          <a:blip r:embed="rId2" cstate="print"/>
          <a:srcRect l="6501" r="7648" b="39870"/>
          <a:stretch>
            <a:fillRect/>
          </a:stretch>
        </p:blipFill>
        <p:spPr>
          <a:xfrm>
            <a:off x="4143379" y="7500958"/>
            <a:ext cx="2571769" cy="9286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28670" y="1428728"/>
            <a:ext cx="388302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2400" u="sng" dirty="0">
                <a:solidFill>
                  <a:schemeClr val="accent3">
                    <a:lumMod val="75000"/>
                  </a:schemeClr>
                </a:solidFill>
                <a:latin typeface="Bahnschrift Light" pitchFamily="34" charset="0"/>
                <a:cs typeface="Calibri" panose="020F0502020204030204" charset="0"/>
                <a:sym typeface="+mn-ea"/>
              </a:rPr>
              <a:t>MASTER PLAN</a:t>
            </a:r>
          </a:p>
        </p:txBody>
      </p:sp>
      <p:pic>
        <p:nvPicPr>
          <p:cNvPr id="12" name="Picture 11"/>
          <p:cNvPicPr/>
          <p:nvPr/>
        </p:nvPicPr>
        <p:blipFill>
          <a:blip r:embed="rId2" cstate="print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2086" t="11374" r="9751" b="14324"/>
          <a:stretch>
            <a:fillRect/>
          </a:stretch>
        </p:blipFill>
        <p:spPr>
          <a:xfrm>
            <a:off x="404664" y="1659560"/>
            <a:ext cx="6572296" cy="4457895"/>
          </a:xfrm>
          <a:prstGeom prst="rect">
            <a:avLst/>
          </a:prstGeom>
        </p:spPr>
      </p:pic>
      <p:pic>
        <p:nvPicPr>
          <p:cNvPr id="14" name="Picture 13"/>
          <p:cNvPicPr/>
          <p:nvPr/>
        </p:nvPicPr>
        <p:blipFill>
          <a:blip r:embed="rId3" cstate="print"/>
          <a:srcRect l="27029" t="21237" r="25597" b="14991"/>
          <a:stretch>
            <a:fillRect/>
          </a:stretch>
        </p:blipFill>
        <p:spPr>
          <a:xfrm>
            <a:off x="5643578" y="7138375"/>
            <a:ext cx="504190" cy="648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08EE6D-53A5-E98B-0BCE-E07B3FDB548B}"/>
              </a:ext>
            </a:extLst>
          </p:cNvPr>
          <p:cNvPicPr/>
          <p:nvPr/>
        </p:nvPicPr>
        <p:blipFill>
          <a:blip r:embed="rId4" cstate="print"/>
          <a:srcRect l="6501" r="7648" b="39870"/>
          <a:stretch>
            <a:fillRect/>
          </a:stretch>
        </p:blipFill>
        <p:spPr>
          <a:xfrm>
            <a:off x="4857760" y="7728698"/>
            <a:ext cx="1775349" cy="7009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60648" y="4263094"/>
            <a:ext cx="6603076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2800" u="sng" dirty="0">
                <a:solidFill>
                  <a:schemeClr val="accent3">
                    <a:lumMod val="75000"/>
                  </a:schemeClr>
                </a:solidFill>
                <a:latin typeface="Bahnschrift Light" pitchFamily="34" charset="0"/>
                <a:cs typeface="Calibri" panose="020F0502020204030204" charset="0"/>
                <a:sym typeface="+mn-ea"/>
              </a:rPr>
              <a:t>EAST REGULAR VILLAS FLOOR PLANS</a:t>
            </a:r>
          </a:p>
        </p:txBody>
      </p:sp>
      <p:sp>
        <p:nvSpPr>
          <p:cNvPr id="3" name="Arc 2"/>
          <p:cNvSpPr/>
          <p:nvPr/>
        </p:nvSpPr>
        <p:spPr>
          <a:xfrm rot="4870481">
            <a:off x="-2455678" y="-1192812"/>
            <a:ext cx="4572032" cy="3429024"/>
          </a:xfrm>
          <a:prstGeom prst="arc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c 3"/>
          <p:cNvSpPr/>
          <p:nvPr/>
        </p:nvSpPr>
        <p:spPr>
          <a:xfrm rot="4870481">
            <a:off x="-3501868" y="-1596825"/>
            <a:ext cx="6329002" cy="4407272"/>
          </a:xfrm>
          <a:prstGeom prst="arc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c 4"/>
          <p:cNvSpPr/>
          <p:nvPr/>
        </p:nvSpPr>
        <p:spPr>
          <a:xfrm rot="16830181">
            <a:off x="4031298" y="7060811"/>
            <a:ext cx="4572032" cy="3429024"/>
          </a:xfrm>
          <a:prstGeom prst="arc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c 5"/>
          <p:cNvSpPr/>
          <p:nvPr/>
        </p:nvSpPr>
        <p:spPr>
          <a:xfrm rot="16830181">
            <a:off x="3008063" y="6667358"/>
            <a:ext cx="6329002" cy="4407272"/>
          </a:xfrm>
          <a:prstGeom prst="arc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67 SQYD - GF"/>
          <p:cNvPicPr>
            <a:picLocks noChangeAspect="1"/>
          </p:cNvPicPr>
          <p:nvPr/>
        </p:nvPicPr>
        <p:blipFill>
          <a:blip r:embed="rId2" cstate="print"/>
          <a:srcRect l="8673" t="10921" r="8353" b="10290"/>
          <a:stretch>
            <a:fillRect/>
          </a:stretch>
        </p:blipFill>
        <p:spPr>
          <a:xfrm>
            <a:off x="357165" y="642910"/>
            <a:ext cx="4892709" cy="3286148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331793" y="357158"/>
            <a:ext cx="3883025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1600" u="sng" dirty="0">
                <a:latin typeface="Bahnschrift SemiLight" pitchFamily="34" charset="0"/>
                <a:cs typeface="Calibri" panose="020F0502020204030204" charset="0"/>
                <a:sym typeface="+mn-ea"/>
              </a:rPr>
              <a:t>EAST REGULAR VILLA - 167 </a:t>
            </a:r>
            <a:r>
              <a:rPr lang="en-IN" sz="1600" u="sng" dirty="0" err="1">
                <a:latin typeface="Bahnschrift SemiLight" pitchFamily="34" charset="0"/>
                <a:cs typeface="Calibri" panose="020F0502020204030204" charset="0"/>
                <a:sym typeface="+mn-ea"/>
              </a:rPr>
              <a:t>Sqyds</a:t>
            </a:r>
            <a:endParaRPr lang="en-IN" sz="1600" u="sng" dirty="0">
              <a:latin typeface="Bahnschrift SemiLight" pitchFamily="34" charset="0"/>
              <a:cs typeface="Calibri" panose="020F0502020204030204" charset="0"/>
              <a:sym typeface="+mn-ea"/>
            </a:endParaRPr>
          </a:p>
        </p:txBody>
      </p:sp>
      <p:pic>
        <p:nvPicPr>
          <p:cNvPr id="3" name="Picture 2" descr="167 SQYD - FF"/>
          <p:cNvPicPr>
            <a:picLocks noChangeAspect="1"/>
          </p:cNvPicPr>
          <p:nvPr/>
        </p:nvPicPr>
        <p:blipFill>
          <a:blip r:embed="rId3" cstate="print"/>
          <a:srcRect l="4104" t="10148" r="3643" b="11593"/>
          <a:stretch>
            <a:fillRect/>
          </a:stretch>
        </p:blipFill>
        <p:spPr>
          <a:xfrm>
            <a:off x="642917" y="3857620"/>
            <a:ext cx="3572121" cy="2143140"/>
          </a:xfrm>
          <a:prstGeom prst="rect">
            <a:avLst/>
          </a:prstGeom>
        </p:spPr>
      </p:pic>
      <p:pic>
        <p:nvPicPr>
          <p:cNvPr id="5" name="Picture 4" descr="167 SQYD - SF"/>
          <p:cNvPicPr>
            <a:picLocks noChangeAspect="1"/>
          </p:cNvPicPr>
          <p:nvPr/>
        </p:nvPicPr>
        <p:blipFill>
          <a:blip r:embed="rId4" cstate="print"/>
          <a:srcRect l="4709" t="12873" r="4941" b="12494"/>
          <a:stretch>
            <a:fillRect/>
          </a:stretch>
        </p:blipFill>
        <p:spPr>
          <a:xfrm>
            <a:off x="642918" y="6235382"/>
            <a:ext cx="3500462" cy="204485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974867" y="3630925"/>
            <a:ext cx="3883025" cy="226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875" u="sng" dirty="0">
                <a:latin typeface="Bahnschrift SemiLight" pitchFamily="34" charset="0"/>
                <a:cs typeface="Calibri" panose="020F0502020204030204" charset="0"/>
                <a:sym typeface="+mn-ea"/>
              </a:rPr>
              <a:t>GROUND FLOOR PLAN 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1689115" y="8226827"/>
            <a:ext cx="3883025" cy="226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875" u="sng" dirty="0">
                <a:latin typeface="Bahnschrift SemiLight" pitchFamily="34" charset="0"/>
                <a:cs typeface="Calibri" panose="020F0502020204030204" charset="0"/>
                <a:sym typeface="+mn-ea"/>
              </a:rPr>
              <a:t>SECOND FLOOR PLAN 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1760553" y="5929322"/>
            <a:ext cx="3883025" cy="226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875" u="sng" dirty="0">
                <a:latin typeface="Bahnschrift SemiLight" pitchFamily="34" charset="0"/>
                <a:cs typeface="Calibri" panose="020F0502020204030204" charset="0"/>
                <a:sym typeface="+mn-ea"/>
              </a:rPr>
              <a:t>FIRST FLOOR PLAN</a:t>
            </a:r>
          </a:p>
        </p:txBody>
      </p:sp>
      <p:pic>
        <p:nvPicPr>
          <p:cNvPr id="10" name="Picture 9"/>
          <p:cNvPicPr/>
          <p:nvPr/>
        </p:nvPicPr>
        <p:blipFill>
          <a:blip r:embed="rId5" cstate="print"/>
          <a:srcRect l="27029" t="21237" r="25597" b="14991"/>
          <a:stretch>
            <a:fillRect/>
          </a:stretch>
        </p:blipFill>
        <p:spPr>
          <a:xfrm>
            <a:off x="5568016" y="7286644"/>
            <a:ext cx="504190" cy="648335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F1BBE7C-0ED0-6319-37BD-1A510320E811}"/>
              </a:ext>
            </a:extLst>
          </p:cNvPr>
          <p:cNvGraphicFramePr>
            <a:graphicFrameLocks noGrp="1"/>
          </p:cNvGraphicFramePr>
          <p:nvPr/>
        </p:nvGraphicFramePr>
        <p:xfrm>
          <a:off x="4482266" y="4640805"/>
          <a:ext cx="2090006" cy="12170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57958">
                  <a:extLst>
                    <a:ext uri="{9D8B030D-6E8A-4147-A177-3AD203B41FA5}">
                      <a16:colId xmlns:a16="http://schemas.microsoft.com/office/drawing/2014/main" val="26838673"/>
                    </a:ext>
                  </a:extLst>
                </a:gridCol>
                <a:gridCol w="1032048">
                  <a:extLst>
                    <a:ext uri="{9D8B030D-6E8A-4147-A177-3AD203B41FA5}">
                      <a16:colId xmlns:a16="http://schemas.microsoft.com/office/drawing/2014/main" val="4129209491"/>
                    </a:ext>
                  </a:extLst>
                </a:gridCol>
              </a:tblGrid>
              <a:tr h="444183">
                <a:tc gridSpan="2">
                  <a:txBody>
                    <a:bodyPr/>
                    <a:lstStyle/>
                    <a:p>
                      <a:r>
                        <a:rPr lang="en-US" sz="800" dirty="0"/>
                        <a:t>AREA STATEMENT</a:t>
                      </a:r>
                    </a:p>
                    <a:p>
                      <a:r>
                        <a:rPr lang="en-US" sz="800" dirty="0"/>
                        <a:t>167 SQ.YDS</a:t>
                      </a:r>
                      <a:r>
                        <a:rPr lang="en-US" sz="800" baseline="0" dirty="0"/>
                        <a:t> </a:t>
                      </a:r>
                      <a:r>
                        <a:rPr lang="en-US" sz="800" dirty="0"/>
                        <a:t>(EAST VILLA)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93233" marR="93233" marT="46616" marB="46616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636686"/>
                  </a:ext>
                </a:extLst>
              </a:tr>
              <a:tr h="193224">
                <a:tc>
                  <a:txBody>
                    <a:bodyPr/>
                    <a:lstStyle/>
                    <a:p>
                      <a:r>
                        <a:rPr lang="en-US" sz="800" dirty="0"/>
                        <a:t>GROUND FLOOR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1030 SQ.FT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extLst>
                  <a:ext uri="{0D108BD9-81ED-4DB2-BD59-A6C34878D82A}">
                    <a16:rowId xmlns:a16="http://schemas.microsoft.com/office/drawing/2014/main" val="425919411"/>
                  </a:ext>
                </a:extLst>
              </a:tr>
              <a:tr h="193224">
                <a:tc>
                  <a:txBody>
                    <a:bodyPr/>
                    <a:lstStyle/>
                    <a:p>
                      <a:r>
                        <a:rPr lang="en-US" sz="800" dirty="0"/>
                        <a:t>FIRST FLOOR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1030 SQ.FT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extLst>
                  <a:ext uri="{0D108BD9-81ED-4DB2-BD59-A6C34878D82A}">
                    <a16:rowId xmlns:a16="http://schemas.microsoft.com/office/drawing/2014/main" val="2156300312"/>
                  </a:ext>
                </a:extLst>
              </a:tr>
              <a:tr h="193224">
                <a:tc>
                  <a:txBody>
                    <a:bodyPr/>
                    <a:lstStyle/>
                    <a:p>
                      <a:r>
                        <a:rPr lang="en-US" sz="800" dirty="0"/>
                        <a:t>SECOND FLOOR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845 SQ.FT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extLst>
                  <a:ext uri="{0D108BD9-81ED-4DB2-BD59-A6C34878D82A}">
                    <a16:rowId xmlns:a16="http://schemas.microsoft.com/office/drawing/2014/main" val="3998824273"/>
                  </a:ext>
                </a:extLst>
              </a:tr>
              <a:tr h="193224">
                <a:tc>
                  <a:txBody>
                    <a:bodyPr/>
                    <a:lstStyle/>
                    <a:p>
                      <a:r>
                        <a:rPr lang="en-US" sz="800" dirty="0"/>
                        <a:t>TOTAL AREA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2905 SQ.FT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extLst>
                  <a:ext uri="{0D108BD9-81ED-4DB2-BD59-A6C34878D82A}">
                    <a16:rowId xmlns:a16="http://schemas.microsoft.com/office/drawing/2014/main" val="4236375762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67554C90-73A0-A8EC-FDEF-75F3C3304026}"/>
              </a:ext>
            </a:extLst>
          </p:cNvPr>
          <p:cNvPicPr/>
          <p:nvPr/>
        </p:nvPicPr>
        <p:blipFill>
          <a:blip r:embed="rId6" cstate="print"/>
          <a:srcRect l="6501" r="7648" b="39870"/>
          <a:stretch>
            <a:fillRect/>
          </a:stretch>
        </p:blipFill>
        <p:spPr>
          <a:xfrm>
            <a:off x="4883785" y="7858874"/>
            <a:ext cx="1643074" cy="6429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183 SQYD - GF"/>
          <p:cNvPicPr>
            <a:picLocks noChangeAspect="1"/>
          </p:cNvPicPr>
          <p:nvPr/>
        </p:nvPicPr>
        <p:blipFill>
          <a:blip r:embed="rId2" cstate="print"/>
          <a:srcRect l="10005" t="8282" r="9164" b="9460"/>
          <a:stretch>
            <a:fillRect/>
          </a:stretch>
        </p:blipFill>
        <p:spPr>
          <a:xfrm>
            <a:off x="357166" y="571472"/>
            <a:ext cx="4543223" cy="3269847"/>
          </a:xfrm>
          <a:prstGeom prst="rect">
            <a:avLst/>
          </a:prstGeom>
        </p:spPr>
      </p:pic>
      <p:pic>
        <p:nvPicPr>
          <p:cNvPr id="12" name="Picture 11" descr="183 SQYD - SF"/>
          <p:cNvPicPr>
            <a:picLocks noChangeAspect="1"/>
          </p:cNvPicPr>
          <p:nvPr/>
        </p:nvPicPr>
        <p:blipFill>
          <a:blip r:embed="rId3" cstate="print"/>
          <a:srcRect l="5774" t="9210" r="4987" b="8687"/>
          <a:stretch>
            <a:fillRect/>
          </a:stretch>
        </p:blipFill>
        <p:spPr>
          <a:xfrm>
            <a:off x="642918" y="6143636"/>
            <a:ext cx="3288391" cy="2139620"/>
          </a:xfrm>
          <a:prstGeom prst="rect">
            <a:avLst/>
          </a:prstGeom>
        </p:spPr>
      </p:pic>
      <p:pic>
        <p:nvPicPr>
          <p:cNvPr id="11" name="Picture 10" descr="183 SQYD - FF"/>
          <p:cNvPicPr>
            <a:picLocks noChangeAspect="1"/>
          </p:cNvPicPr>
          <p:nvPr/>
        </p:nvPicPr>
        <p:blipFill>
          <a:blip r:embed="rId4" cstate="print"/>
          <a:srcRect l="6272" t="10156" r="6856" b="10007"/>
          <a:stretch>
            <a:fillRect/>
          </a:stretch>
        </p:blipFill>
        <p:spPr>
          <a:xfrm>
            <a:off x="642918" y="3848846"/>
            <a:ext cx="3272604" cy="2080476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B1EEE77-375C-48A7-A378-481F0C286981}"/>
              </a:ext>
            </a:extLst>
          </p:cNvPr>
          <p:cNvGraphicFramePr>
            <a:graphicFrameLocks noGrp="1"/>
          </p:cNvGraphicFramePr>
          <p:nvPr/>
        </p:nvGraphicFramePr>
        <p:xfrm>
          <a:off x="4214818" y="4571998"/>
          <a:ext cx="2280033" cy="128588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54150">
                  <a:extLst>
                    <a:ext uri="{9D8B030D-6E8A-4147-A177-3AD203B41FA5}">
                      <a16:colId xmlns:a16="http://schemas.microsoft.com/office/drawing/2014/main" val="26838673"/>
                    </a:ext>
                  </a:extLst>
                </a:gridCol>
                <a:gridCol w="1125883">
                  <a:extLst>
                    <a:ext uri="{9D8B030D-6E8A-4147-A177-3AD203B41FA5}">
                      <a16:colId xmlns:a16="http://schemas.microsoft.com/office/drawing/2014/main" val="4129209491"/>
                    </a:ext>
                  </a:extLst>
                </a:gridCol>
              </a:tblGrid>
              <a:tr h="469294">
                <a:tc gridSpan="2">
                  <a:txBody>
                    <a:bodyPr/>
                    <a:lstStyle/>
                    <a:p>
                      <a:r>
                        <a:rPr lang="en-US" sz="800" dirty="0"/>
                        <a:t>AREA STATEMENT</a:t>
                      </a:r>
                    </a:p>
                    <a:p>
                      <a:r>
                        <a:rPr lang="en-US" sz="800" dirty="0"/>
                        <a:t>183 SQ.YDS</a:t>
                      </a:r>
                      <a:r>
                        <a:rPr lang="en-US" sz="800" baseline="0" dirty="0"/>
                        <a:t> </a:t>
                      </a:r>
                      <a:r>
                        <a:rPr lang="en-US" sz="800" dirty="0"/>
                        <a:t>(EAST VILLA)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93233" marR="93233" marT="46616" marB="46616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636686"/>
                  </a:ext>
                </a:extLst>
              </a:tr>
              <a:tr h="204148">
                <a:tc>
                  <a:txBody>
                    <a:bodyPr/>
                    <a:lstStyle/>
                    <a:p>
                      <a:r>
                        <a:rPr lang="en-US" sz="800" dirty="0"/>
                        <a:t>GROUND FLOOR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1130 SQ.FT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extLst>
                  <a:ext uri="{0D108BD9-81ED-4DB2-BD59-A6C34878D82A}">
                    <a16:rowId xmlns:a16="http://schemas.microsoft.com/office/drawing/2014/main" val="425919411"/>
                  </a:ext>
                </a:extLst>
              </a:tr>
              <a:tr h="204148">
                <a:tc>
                  <a:txBody>
                    <a:bodyPr/>
                    <a:lstStyle/>
                    <a:p>
                      <a:r>
                        <a:rPr lang="en-US" sz="800" dirty="0"/>
                        <a:t>FIRST FLOOR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1130 SQ.FT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extLst>
                  <a:ext uri="{0D108BD9-81ED-4DB2-BD59-A6C34878D82A}">
                    <a16:rowId xmlns:a16="http://schemas.microsoft.com/office/drawing/2014/main" val="2156300312"/>
                  </a:ext>
                </a:extLst>
              </a:tr>
              <a:tr h="204148">
                <a:tc>
                  <a:txBody>
                    <a:bodyPr/>
                    <a:lstStyle/>
                    <a:p>
                      <a:r>
                        <a:rPr lang="en-US" sz="800" dirty="0"/>
                        <a:t>SECOND FLOOR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915 SQ.FT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extLst>
                  <a:ext uri="{0D108BD9-81ED-4DB2-BD59-A6C34878D82A}">
                    <a16:rowId xmlns:a16="http://schemas.microsoft.com/office/drawing/2014/main" val="3998824273"/>
                  </a:ext>
                </a:extLst>
              </a:tr>
              <a:tr h="204148">
                <a:tc>
                  <a:txBody>
                    <a:bodyPr/>
                    <a:lstStyle/>
                    <a:p>
                      <a:r>
                        <a:rPr lang="en-US" sz="800" dirty="0"/>
                        <a:t>TOTAL AREA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3175 SQ.FT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extLst>
                  <a:ext uri="{0D108BD9-81ED-4DB2-BD59-A6C34878D82A}">
                    <a16:rowId xmlns:a16="http://schemas.microsoft.com/office/drawing/2014/main" val="4236375762"/>
                  </a:ext>
                </a:extLst>
              </a:tr>
            </a:tbl>
          </a:graphicData>
        </a:graphic>
      </p:graphicFrame>
      <p:sp>
        <p:nvSpPr>
          <p:cNvPr id="14" name="Text Box 1"/>
          <p:cNvSpPr txBox="1"/>
          <p:nvPr/>
        </p:nvSpPr>
        <p:spPr>
          <a:xfrm>
            <a:off x="331793" y="357158"/>
            <a:ext cx="3883025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1600" u="sng" dirty="0">
                <a:latin typeface="Bahnschrift SemiLight" pitchFamily="34" charset="0"/>
                <a:cs typeface="Calibri" panose="020F0502020204030204" charset="0"/>
                <a:sym typeface="+mn-ea"/>
              </a:rPr>
              <a:t>EAST REGULAR VILLA - 183 </a:t>
            </a:r>
            <a:r>
              <a:rPr lang="en-IN" sz="1600" u="sng" dirty="0" err="1">
                <a:latin typeface="Bahnschrift SemiLight" pitchFamily="34" charset="0"/>
                <a:cs typeface="Calibri" panose="020F0502020204030204" charset="0"/>
                <a:sym typeface="+mn-ea"/>
              </a:rPr>
              <a:t>Sqyds</a:t>
            </a:r>
            <a:endParaRPr lang="en-IN" sz="1600" u="sng" dirty="0">
              <a:latin typeface="Bahnschrift SemiLight" pitchFamily="34" charset="0"/>
              <a:cs typeface="Calibri" panose="020F0502020204030204" charset="0"/>
              <a:sym typeface="+mn-ea"/>
            </a:endParaRPr>
          </a:p>
        </p:txBody>
      </p:sp>
      <p:sp>
        <p:nvSpPr>
          <p:cNvPr id="16" name="Text Box 5"/>
          <p:cNvSpPr txBox="1"/>
          <p:nvPr/>
        </p:nvSpPr>
        <p:spPr>
          <a:xfrm>
            <a:off x="1785926" y="3500430"/>
            <a:ext cx="3883025" cy="226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875" u="sng" dirty="0">
                <a:latin typeface="Bahnschrift SemiLight" pitchFamily="34" charset="0"/>
                <a:cs typeface="Calibri" panose="020F0502020204030204" charset="0"/>
                <a:sym typeface="+mn-ea"/>
              </a:rPr>
              <a:t>GROUND FLOOR PLAN </a:t>
            </a:r>
          </a:p>
        </p:txBody>
      </p:sp>
      <p:pic>
        <p:nvPicPr>
          <p:cNvPr id="17" name="Picture 16"/>
          <p:cNvPicPr/>
          <p:nvPr/>
        </p:nvPicPr>
        <p:blipFill>
          <a:blip r:embed="rId5" cstate="print"/>
          <a:srcRect l="27029" t="21237" r="25597" b="14991"/>
          <a:stretch>
            <a:fillRect/>
          </a:stretch>
        </p:blipFill>
        <p:spPr>
          <a:xfrm>
            <a:off x="5568016" y="7286644"/>
            <a:ext cx="504190" cy="64833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7554C90-73A0-A8EC-FDEF-75F3C3304026}"/>
              </a:ext>
            </a:extLst>
          </p:cNvPr>
          <p:cNvPicPr/>
          <p:nvPr/>
        </p:nvPicPr>
        <p:blipFill>
          <a:blip r:embed="rId6" cstate="print"/>
          <a:srcRect l="6501" r="7648" b="39870"/>
          <a:stretch>
            <a:fillRect/>
          </a:stretch>
        </p:blipFill>
        <p:spPr>
          <a:xfrm>
            <a:off x="4883785" y="7858874"/>
            <a:ext cx="1643074" cy="642942"/>
          </a:xfrm>
          <a:prstGeom prst="rect">
            <a:avLst/>
          </a:prstGeom>
        </p:spPr>
      </p:pic>
      <p:sp>
        <p:nvSpPr>
          <p:cNvPr id="20" name="Text Box 6"/>
          <p:cNvSpPr txBox="1"/>
          <p:nvPr/>
        </p:nvSpPr>
        <p:spPr>
          <a:xfrm>
            <a:off x="1689115" y="8274395"/>
            <a:ext cx="3883025" cy="226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875" u="sng" dirty="0">
                <a:latin typeface="Bahnschrift SemiLight" pitchFamily="34" charset="0"/>
                <a:cs typeface="Calibri" panose="020F0502020204030204" charset="0"/>
                <a:sym typeface="+mn-ea"/>
              </a:rPr>
              <a:t>SECOND FLOOR PLAN </a:t>
            </a:r>
          </a:p>
        </p:txBody>
      </p:sp>
      <p:sp>
        <p:nvSpPr>
          <p:cNvPr id="21" name="Text Box 7"/>
          <p:cNvSpPr txBox="1"/>
          <p:nvPr/>
        </p:nvSpPr>
        <p:spPr>
          <a:xfrm>
            <a:off x="1714488" y="5857884"/>
            <a:ext cx="3883025" cy="226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875" u="sng" dirty="0">
                <a:latin typeface="Bahnschrift SemiLight" pitchFamily="34" charset="0"/>
                <a:cs typeface="Calibri" panose="020F0502020204030204" charset="0"/>
                <a:sym typeface="+mn-ea"/>
              </a:rPr>
              <a:t>FIRST FLOOR PLAN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200 SQYD - GF"/>
          <p:cNvPicPr>
            <a:picLocks noChangeAspect="1"/>
          </p:cNvPicPr>
          <p:nvPr/>
        </p:nvPicPr>
        <p:blipFill>
          <a:blip r:embed="rId2" cstate="print"/>
          <a:srcRect l="8531" t="9257" r="8056" b="9382"/>
          <a:stretch>
            <a:fillRect/>
          </a:stretch>
        </p:blipFill>
        <p:spPr>
          <a:xfrm>
            <a:off x="357166" y="571472"/>
            <a:ext cx="4807128" cy="3316179"/>
          </a:xfrm>
          <a:prstGeom prst="rect">
            <a:avLst/>
          </a:prstGeom>
        </p:spPr>
      </p:pic>
      <p:pic>
        <p:nvPicPr>
          <p:cNvPr id="4" name="Picture 3" descr="200 SQYD - FF"/>
          <p:cNvPicPr>
            <a:picLocks noChangeAspect="1"/>
          </p:cNvPicPr>
          <p:nvPr/>
        </p:nvPicPr>
        <p:blipFill>
          <a:blip r:embed="rId3" cstate="print"/>
          <a:srcRect l="13700" t="17297" r="12534" b="17835"/>
          <a:stretch>
            <a:fillRect/>
          </a:stretch>
        </p:blipFill>
        <p:spPr>
          <a:xfrm>
            <a:off x="571480" y="3929058"/>
            <a:ext cx="3233420" cy="2011045"/>
          </a:xfrm>
          <a:prstGeom prst="rect">
            <a:avLst/>
          </a:prstGeom>
        </p:spPr>
      </p:pic>
      <p:pic>
        <p:nvPicPr>
          <p:cNvPr id="5" name="Picture 4" descr="200 SQYD - TF"/>
          <p:cNvPicPr>
            <a:picLocks noChangeAspect="1"/>
          </p:cNvPicPr>
          <p:nvPr/>
        </p:nvPicPr>
        <p:blipFill>
          <a:blip r:embed="rId4" cstate="print"/>
          <a:srcRect l="15707" t="19085" r="16254" b="20019"/>
          <a:stretch>
            <a:fillRect/>
          </a:stretch>
        </p:blipFill>
        <p:spPr>
          <a:xfrm>
            <a:off x="554992" y="6286512"/>
            <a:ext cx="3159760" cy="2000250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63342D4-B459-FCDB-F13D-C4529A8B2282}"/>
              </a:ext>
            </a:extLst>
          </p:cNvPr>
          <p:cNvGraphicFramePr>
            <a:graphicFrameLocks noGrp="1"/>
          </p:cNvGraphicFramePr>
          <p:nvPr/>
        </p:nvGraphicFramePr>
        <p:xfrm>
          <a:off x="4071943" y="4643438"/>
          <a:ext cx="2307808" cy="128078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8209">
                  <a:extLst>
                    <a:ext uri="{9D8B030D-6E8A-4147-A177-3AD203B41FA5}">
                      <a16:colId xmlns:a16="http://schemas.microsoft.com/office/drawing/2014/main" val="26838673"/>
                    </a:ext>
                  </a:extLst>
                </a:gridCol>
                <a:gridCol w="1139599">
                  <a:extLst>
                    <a:ext uri="{9D8B030D-6E8A-4147-A177-3AD203B41FA5}">
                      <a16:colId xmlns:a16="http://schemas.microsoft.com/office/drawing/2014/main" val="4129209491"/>
                    </a:ext>
                  </a:extLst>
                </a:gridCol>
              </a:tblGrid>
              <a:tr h="467432">
                <a:tc gridSpan="2">
                  <a:txBody>
                    <a:bodyPr/>
                    <a:lstStyle/>
                    <a:p>
                      <a:r>
                        <a:rPr lang="en-US" sz="800" dirty="0"/>
                        <a:t>AREA STATEMENT</a:t>
                      </a:r>
                    </a:p>
                    <a:p>
                      <a:r>
                        <a:rPr lang="en-US" sz="800" dirty="0"/>
                        <a:t>200 SQ.YDS</a:t>
                      </a:r>
                      <a:r>
                        <a:rPr lang="en-US" sz="800" baseline="0" dirty="0"/>
                        <a:t> </a:t>
                      </a:r>
                      <a:r>
                        <a:rPr lang="en-US" sz="800" dirty="0"/>
                        <a:t>(EAST VILLA)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93233" marR="93233" marT="46616" marB="46616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636686"/>
                  </a:ext>
                </a:extLst>
              </a:tr>
              <a:tr h="203338">
                <a:tc>
                  <a:txBody>
                    <a:bodyPr/>
                    <a:lstStyle/>
                    <a:p>
                      <a:r>
                        <a:rPr lang="en-US" sz="800" dirty="0"/>
                        <a:t>GROUND FLOOR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1280 SQ.FT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extLst>
                  <a:ext uri="{0D108BD9-81ED-4DB2-BD59-A6C34878D82A}">
                    <a16:rowId xmlns:a16="http://schemas.microsoft.com/office/drawing/2014/main" val="425919411"/>
                  </a:ext>
                </a:extLst>
              </a:tr>
              <a:tr h="203338">
                <a:tc>
                  <a:txBody>
                    <a:bodyPr/>
                    <a:lstStyle/>
                    <a:p>
                      <a:r>
                        <a:rPr lang="en-US" sz="800" dirty="0"/>
                        <a:t>FIRST FLOOR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1280 SQ.FT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extLst>
                  <a:ext uri="{0D108BD9-81ED-4DB2-BD59-A6C34878D82A}">
                    <a16:rowId xmlns:a16="http://schemas.microsoft.com/office/drawing/2014/main" val="2156300312"/>
                  </a:ext>
                </a:extLst>
              </a:tr>
              <a:tr h="203338">
                <a:tc>
                  <a:txBody>
                    <a:bodyPr/>
                    <a:lstStyle/>
                    <a:p>
                      <a:r>
                        <a:rPr lang="en-US" sz="800" dirty="0"/>
                        <a:t>SECOND FLOOR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1030 SQ.FT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extLst>
                  <a:ext uri="{0D108BD9-81ED-4DB2-BD59-A6C34878D82A}">
                    <a16:rowId xmlns:a16="http://schemas.microsoft.com/office/drawing/2014/main" val="3998824273"/>
                  </a:ext>
                </a:extLst>
              </a:tr>
              <a:tr h="203338">
                <a:tc>
                  <a:txBody>
                    <a:bodyPr/>
                    <a:lstStyle/>
                    <a:p>
                      <a:r>
                        <a:rPr lang="en-US" sz="800" dirty="0"/>
                        <a:t>TOTAL AREA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3590 SQ.FT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extLst>
                  <a:ext uri="{0D108BD9-81ED-4DB2-BD59-A6C34878D82A}">
                    <a16:rowId xmlns:a16="http://schemas.microsoft.com/office/drawing/2014/main" val="4236375762"/>
                  </a:ext>
                </a:extLst>
              </a:tr>
            </a:tbl>
          </a:graphicData>
        </a:graphic>
      </p:graphicFrame>
      <p:sp>
        <p:nvSpPr>
          <p:cNvPr id="13" name="Text Box 1"/>
          <p:cNvSpPr txBox="1"/>
          <p:nvPr/>
        </p:nvSpPr>
        <p:spPr>
          <a:xfrm>
            <a:off x="331793" y="357158"/>
            <a:ext cx="3883025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1600" u="sng" dirty="0">
                <a:latin typeface="Bahnschrift SemiLight" pitchFamily="34" charset="0"/>
                <a:cs typeface="Calibri" panose="020F0502020204030204" charset="0"/>
                <a:sym typeface="+mn-ea"/>
              </a:rPr>
              <a:t>EAST REGULAR VILLA - 200 </a:t>
            </a:r>
            <a:r>
              <a:rPr lang="en-IN" sz="1600" u="sng" dirty="0" err="1">
                <a:latin typeface="Bahnschrift SemiLight" pitchFamily="34" charset="0"/>
                <a:cs typeface="Calibri" panose="020F0502020204030204" charset="0"/>
                <a:sym typeface="+mn-ea"/>
              </a:rPr>
              <a:t>Sqyds</a:t>
            </a:r>
            <a:endParaRPr lang="en-IN" sz="1600" u="sng" dirty="0">
              <a:latin typeface="Bahnschrift SemiLight" pitchFamily="34" charset="0"/>
              <a:cs typeface="Calibri" panose="020F0502020204030204" charset="0"/>
              <a:sym typeface="+mn-ea"/>
            </a:endParaRPr>
          </a:p>
        </p:txBody>
      </p:sp>
      <p:sp>
        <p:nvSpPr>
          <p:cNvPr id="15" name="Text Box 5"/>
          <p:cNvSpPr txBox="1"/>
          <p:nvPr/>
        </p:nvSpPr>
        <p:spPr>
          <a:xfrm>
            <a:off x="1785926" y="3571868"/>
            <a:ext cx="3883025" cy="226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875" u="sng" dirty="0">
                <a:latin typeface="Bahnschrift SemiLight" pitchFamily="34" charset="0"/>
                <a:cs typeface="Calibri" panose="020F0502020204030204" charset="0"/>
                <a:sym typeface="+mn-ea"/>
              </a:rPr>
              <a:t>GROUND FLOOR PLAN </a:t>
            </a:r>
          </a:p>
        </p:txBody>
      </p:sp>
      <p:pic>
        <p:nvPicPr>
          <p:cNvPr id="16" name="Picture 15"/>
          <p:cNvPicPr/>
          <p:nvPr/>
        </p:nvPicPr>
        <p:blipFill>
          <a:blip r:embed="rId5" cstate="print"/>
          <a:srcRect l="27029" t="21237" r="25597" b="14991"/>
          <a:stretch>
            <a:fillRect/>
          </a:stretch>
        </p:blipFill>
        <p:spPr>
          <a:xfrm>
            <a:off x="5568016" y="7286644"/>
            <a:ext cx="504190" cy="64833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7554C90-73A0-A8EC-FDEF-75F3C3304026}"/>
              </a:ext>
            </a:extLst>
          </p:cNvPr>
          <p:cNvPicPr/>
          <p:nvPr/>
        </p:nvPicPr>
        <p:blipFill>
          <a:blip r:embed="rId6" cstate="print"/>
          <a:srcRect l="6501" r="7648" b="39870"/>
          <a:stretch>
            <a:fillRect/>
          </a:stretch>
        </p:blipFill>
        <p:spPr>
          <a:xfrm>
            <a:off x="4883785" y="7858874"/>
            <a:ext cx="1643074" cy="642942"/>
          </a:xfrm>
          <a:prstGeom prst="rect">
            <a:avLst/>
          </a:prstGeom>
        </p:spPr>
      </p:pic>
      <p:sp>
        <p:nvSpPr>
          <p:cNvPr id="18" name="Text Box 6"/>
          <p:cNvSpPr txBox="1"/>
          <p:nvPr/>
        </p:nvSpPr>
        <p:spPr>
          <a:xfrm>
            <a:off x="1571612" y="8274395"/>
            <a:ext cx="3883025" cy="226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875" u="sng" dirty="0">
                <a:latin typeface="Bahnschrift SemiLight" pitchFamily="34" charset="0"/>
                <a:cs typeface="Calibri" panose="020F0502020204030204" charset="0"/>
                <a:sym typeface="+mn-ea"/>
              </a:rPr>
              <a:t>SECOND FLOOR PLAN </a:t>
            </a:r>
          </a:p>
        </p:txBody>
      </p:sp>
      <p:sp>
        <p:nvSpPr>
          <p:cNvPr id="19" name="Text Box 7"/>
          <p:cNvSpPr txBox="1"/>
          <p:nvPr/>
        </p:nvSpPr>
        <p:spPr>
          <a:xfrm>
            <a:off x="1571612" y="5916941"/>
            <a:ext cx="3883025" cy="226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875" u="sng" dirty="0">
                <a:latin typeface="Bahnschrift SemiLight" pitchFamily="34" charset="0"/>
                <a:cs typeface="Calibri" panose="020F0502020204030204" charset="0"/>
                <a:sym typeface="+mn-ea"/>
              </a:rPr>
              <a:t>FIRST FLOOR PLAN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2308" y="4263094"/>
            <a:ext cx="8547292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2800" u="sng" dirty="0">
                <a:solidFill>
                  <a:schemeClr val="accent3">
                    <a:lumMod val="75000"/>
                  </a:schemeClr>
                </a:solidFill>
                <a:latin typeface="Bahnschrift Light" pitchFamily="34" charset="0"/>
                <a:cs typeface="Calibri" panose="020F0502020204030204" charset="0"/>
                <a:sym typeface="+mn-ea"/>
              </a:rPr>
              <a:t>WEST REGULAR VILLAS FLOOR PLANS</a:t>
            </a:r>
          </a:p>
        </p:txBody>
      </p:sp>
      <p:sp>
        <p:nvSpPr>
          <p:cNvPr id="3" name="Arc 2"/>
          <p:cNvSpPr/>
          <p:nvPr/>
        </p:nvSpPr>
        <p:spPr>
          <a:xfrm rot="4870481">
            <a:off x="-2455678" y="-1192812"/>
            <a:ext cx="4572032" cy="3429024"/>
          </a:xfrm>
          <a:prstGeom prst="arc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c 3"/>
          <p:cNvSpPr/>
          <p:nvPr/>
        </p:nvSpPr>
        <p:spPr>
          <a:xfrm rot="4870481">
            <a:off x="-3501868" y="-1596825"/>
            <a:ext cx="6329002" cy="4407272"/>
          </a:xfrm>
          <a:prstGeom prst="arc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c 4"/>
          <p:cNvSpPr/>
          <p:nvPr/>
        </p:nvSpPr>
        <p:spPr>
          <a:xfrm rot="16830181">
            <a:off x="4031298" y="7060811"/>
            <a:ext cx="4572032" cy="3429024"/>
          </a:xfrm>
          <a:prstGeom prst="arc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c 5"/>
          <p:cNvSpPr/>
          <p:nvPr/>
        </p:nvSpPr>
        <p:spPr>
          <a:xfrm rot="16830181">
            <a:off x="3008063" y="6667358"/>
            <a:ext cx="6329002" cy="4407272"/>
          </a:xfrm>
          <a:prstGeom prst="arc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167 WEST GROUND copy.jpg"/>
          <p:cNvPicPr>
            <a:picLocks noChangeAspect="1"/>
          </p:cNvPicPr>
          <p:nvPr/>
        </p:nvPicPr>
        <p:blipFill>
          <a:blip r:embed="rId2" cstate="print"/>
          <a:srcRect l="7291" t="8756" r="6250" b="10230"/>
          <a:stretch>
            <a:fillRect/>
          </a:stretch>
        </p:blipFill>
        <p:spPr>
          <a:xfrm>
            <a:off x="285728" y="571472"/>
            <a:ext cx="5286412" cy="3503044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331793" y="357158"/>
            <a:ext cx="3883025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1600" u="sng" dirty="0">
                <a:latin typeface="Bahnschrift SemiLight" pitchFamily="34" charset="0"/>
                <a:cs typeface="Calibri" panose="020F0502020204030204" charset="0"/>
                <a:sym typeface="+mn-ea"/>
              </a:rPr>
              <a:t>WEST REGULAR VILLA - 167 </a:t>
            </a:r>
            <a:r>
              <a:rPr lang="en-IN" sz="1600" u="sng" dirty="0" err="1">
                <a:latin typeface="Bahnschrift SemiLight" pitchFamily="34" charset="0"/>
                <a:cs typeface="Calibri" panose="020F0502020204030204" charset="0"/>
                <a:sym typeface="+mn-ea"/>
              </a:rPr>
              <a:t>Sqyds</a:t>
            </a:r>
            <a:endParaRPr lang="en-IN" sz="1600" u="sng" dirty="0">
              <a:latin typeface="Bahnschrift SemiLight" pitchFamily="34" charset="0"/>
              <a:cs typeface="Calibri" panose="020F0502020204030204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617809" y="3714744"/>
            <a:ext cx="3883025" cy="226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875" u="sng" dirty="0">
                <a:latin typeface="Bahnschrift SemiLight" pitchFamily="34" charset="0"/>
                <a:cs typeface="Calibri" panose="020F0502020204030204" charset="0"/>
                <a:sym typeface="+mn-ea"/>
              </a:rPr>
              <a:t>GROUND FLOOR PLAN 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1689115" y="8274395"/>
            <a:ext cx="3883025" cy="226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875" u="sng" dirty="0">
                <a:latin typeface="Bahnschrift SemiLight" pitchFamily="34" charset="0"/>
                <a:cs typeface="Calibri" panose="020F0502020204030204" charset="0"/>
                <a:sym typeface="+mn-ea"/>
              </a:rPr>
              <a:t>SECOND FLOOR PLAN 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1760553" y="6000760"/>
            <a:ext cx="3883025" cy="226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875" u="sng" dirty="0">
                <a:latin typeface="Bahnschrift SemiLight" pitchFamily="34" charset="0"/>
                <a:cs typeface="Calibri" panose="020F0502020204030204" charset="0"/>
                <a:sym typeface="+mn-ea"/>
              </a:rPr>
              <a:t>FIRST FLOOR PLAN</a:t>
            </a:r>
          </a:p>
        </p:txBody>
      </p:sp>
      <p:pic>
        <p:nvPicPr>
          <p:cNvPr id="10" name="Picture 9"/>
          <p:cNvPicPr/>
          <p:nvPr/>
        </p:nvPicPr>
        <p:blipFill>
          <a:blip r:embed="rId3" cstate="print"/>
          <a:srcRect l="27029" t="21237" r="25597" b="14991"/>
          <a:stretch>
            <a:fillRect/>
          </a:stretch>
        </p:blipFill>
        <p:spPr>
          <a:xfrm>
            <a:off x="5568016" y="7286644"/>
            <a:ext cx="504190" cy="648335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F1BBE7C-0ED0-6319-37BD-1A510320E811}"/>
              </a:ext>
            </a:extLst>
          </p:cNvPr>
          <p:cNvGraphicFramePr>
            <a:graphicFrameLocks noGrp="1"/>
          </p:cNvGraphicFramePr>
          <p:nvPr/>
        </p:nvGraphicFramePr>
        <p:xfrm>
          <a:off x="4482266" y="4640805"/>
          <a:ext cx="2090006" cy="12170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57958">
                  <a:extLst>
                    <a:ext uri="{9D8B030D-6E8A-4147-A177-3AD203B41FA5}">
                      <a16:colId xmlns:a16="http://schemas.microsoft.com/office/drawing/2014/main" val="26838673"/>
                    </a:ext>
                  </a:extLst>
                </a:gridCol>
                <a:gridCol w="1032048">
                  <a:extLst>
                    <a:ext uri="{9D8B030D-6E8A-4147-A177-3AD203B41FA5}">
                      <a16:colId xmlns:a16="http://schemas.microsoft.com/office/drawing/2014/main" val="4129209491"/>
                    </a:ext>
                  </a:extLst>
                </a:gridCol>
              </a:tblGrid>
              <a:tr h="444183">
                <a:tc gridSpan="2">
                  <a:txBody>
                    <a:bodyPr/>
                    <a:lstStyle/>
                    <a:p>
                      <a:r>
                        <a:rPr lang="en-US" sz="800" dirty="0"/>
                        <a:t>AREA STATEMENT</a:t>
                      </a:r>
                    </a:p>
                    <a:p>
                      <a:r>
                        <a:rPr lang="en-US" sz="800" dirty="0"/>
                        <a:t>167</a:t>
                      </a:r>
                      <a:r>
                        <a:rPr lang="en-US" sz="800" baseline="0" dirty="0"/>
                        <a:t> </a:t>
                      </a:r>
                      <a:r>
                        <a:rPr lang="en-US" sz="800" dirty="0"/>
                        <a:t>SQ.YDS</a:t>
                      </a:r>
                      <a:r>
                        <a:rPr lang="en-US" sz="800" baseline="0" dirty="0"/>
                        <a:t> </a:t>
                      </a:r>
                      <a:r>
                        <a:rPr lang="en-US" sz="800" dirty="0"/>
                        <a:t>(WEST VILLA)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93233" marR="93233" marT="46616" marB="46616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636686"/>
                  </a:ext>
                </a:extLst>
              </a:tr>
              <a:tr h="193224">
                <a:tc>
                  <a:txBody>
                    <a:bodyPr/>
                    <a:lstStyle/>
                    <a:p>
                      <a:r>
                        <a:rPr lang="en-US" sz="800" dirty="0"/>
                        <a:t>GROUND FLOOR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1030 SQ.FT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extLst>
                  <a:ext uri="{0D108BD9-81ED-4DB2-BD59-A6C34878D82A}">
                    <a16:rowId xmlns:a16="http://schemas.microsoft.com/office/drawing/2014/main" val="425919411"/>
                  </a:ext>
                </a:extLst>
              </a:tr>
              <a:tr h="193224">
                <a:tc>
                  <a:txBody>
                    <a:bodyPr/>
                    <a:lstStyle/>
                    <a:p>
                      <a:r>
                        <a:rPr lang="en-US" sz="800" dirty="0"/>
                        <a:t>FIRST FLOOR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1030 SQ.FT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extLst>
                  <a:ext uri="{0D108BD9-81ED-4DB2-BD59-A6C34878D82A}">
                    <a16:rowId xmlns:a16="http://schemas.microsoft.com/office/drawing/2014/main" val="2156300312"/>
                  </a:ext>
                </a:extLst>
              </a:tr>
              <a:tr h="193224">
                <a:tc>
                  <a:txBody>
                    <a:bodyPr/>
                    <a:lstStyle/>
                    <a:p>
                      <a:r>
                        <a:rPr lang="en-US" sz="800" dirty="0"/>
                        <a:t>SECOND FLOOR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845 SQ.FT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extLst>
                  <a:ext uri="{0D108BD9-81ED-4DB2-BD59-A6C34878D82A}">
                    <a16:rowId xmlns:a16="http://schemas.microsoft.com/office/drawing/2014/main" val="3998824273"/>
                  </a:ext>
                </a:extLst>
              </a:tr>
              <a:tr h="193224">
                <a:tc>
                  <a:txBody>
                    <a:bodyPr/>
                    <a:lstStyle/>
                    <a:p>
                      <a:r>
                        <a:rPr lang="en-US" sz="800" dirty="0"/>
                        <a:t>TOTAL AREA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2905 SQ.FT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extLst>
                  <a:ext uri="{0D108BD9-81ED-4DB2-BD59-A6C34878D82A}">
                    <a16:rowId xmlns:a16="http://schemas.microsoft.com/office/drawing/2014/main" val="4236375762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67554C90-73A0-A8EC-FDEF-75F3C3304026}"/>
              </a:ext>
            </a:extLst>
          </p:cNvPr>
          <p:cNvPicPr/>
          <p:nvPr/>
        </p:nvPicPr>
        <p:blipFill>
          <a:blip r:embed="rId4" cstate="print"/>
          <a:srcRect l="6501" r="7648" b="39870"/>
          <a:stretch>
            <a:fillRect/>
          </a:stretch>
        </p:blipFill>
        <p:spPr>
          <a:xfrm>
            <a:off x="4883785" y="7858874"/>
            <a:ext cx="1643074" cy="642942"/>
          </a:xfrm>
          <a:prstGeom prst="rect">
            <a:avLst/>
          </a:prstGeom>
        </p:spPr>
      </p:pic>
      <p:pic>
        <p:nvPicPr>
          <p:cNvPr id="15" name="Picture 14" descr="167 West first.jpg"/>
          <p:cNvPicPr>
            <a:picLocks noChangeAspect="1"/>
          </p:cNvPicPr>
          <p:nvPr/>
        </p:nvPicPr>
        <p:blipFill>
          <a:blip r:embed="rId5" cstate="print"/>
          <a:srcRect l="4166" t="13175" r="4166" b="13175"/>
          <a:stretch>
            <a:fillRect/>
          </a:stretch>
        </p:blipFill>
        <p:spPr>
          <a:xfrm>
            <a:off x="571480" y="4143372"/>
            <a:ext cx="3500462" cy="192882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643182" y="3929058"/>
            <a:ext cx="1143008" cy="2143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7" name="Picture 16" descr="167 West second.jpg"/>
          <p:cNvPicPr>
            <a:picLocks noChangeAspect="1"/>
          </p:cNvPicPr>
          <p:nvPr/>
        </p:nvPicPr>
        <p:blipFill>
          <a:blip r:embed="rId6" cstate="print"/>
          <a:srcRect l="5208" t="13175" r="5208" b="13175"/>
          <a:stretch>
            <a:fillRect/>
          </a:stretch>
        </p:blipFill>
        <p:spPr>
          <a:xfrm>
            <a:off x="571480" y="6286512"/>
            <a:ext cx="3500462" cy="20002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183 GROUND copy.jpg"/>
          <p:cNvPicPr>
            <a:picLocks noChangeAspect="1"/>
          </p:cNvPicPr>
          <p:nvPr/>
        </p:nvPicPr>
        <p:blipFill>
          <a:blip r:embed="rId2" cstate="print"/>
          <a:srcRect l="7291" t="4338" r="5208" b="4337"/>
          <a:stretch>
            <a:fillRect/>
          </a:stretch>
        </p:blipFill>
        <p:spPr>
          <a:xfrm>
            <a:off x="357166" y="642910"/>
            <a:ext cx="4214842" cy="3110955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B1EEE77-375C-48A7-A378-481F0C286981}"/>
              </a:ext>
            </a:extLst>
          </p:cNvPr>
          <p:cNvGraphicFramePr>
            <a:graphicFrameLocks noGrp="1"/>
          </p:cNvGraphicFramePr>
          <p:nvPr/>
        </p:nvGraphicFramePr>
        <p:xfrm>
          <a:off x="4214818" y="4571998"/>
          <a:ext cx="2280033" cy="128588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54150">
                  <a:extLst>
                    <a:ext uri="{9D8B030D-6E8A-4147-A177-3AD203B41FA5}">
                      <a16:colId xmlns:a16="http://schemas.microsoft.com/office/drawing/2014/main" val="26838673"/>
                    </a:ext>
                  </a:extLst>
                </a:gridCol>
                <a:gridCol w="1125883">
                  <a:extLst>
                    <a:ext uri="{9D8B030D-6E8A-4147-A177-3AD203B41FA5}">
                      <a16:colId xmlns:a16="http://schemas.microsoft.com/office/drawing/2014/main" val="4129209491"/>
                    </a:ext>
                  </a:extLst>
                </a:gridCol>
              </a:tblGrid>
              <a:tr h="469294">
                <a:tc gridSpan="2">
                  <a:txBody>
                    <a:bodyPr/>
                    <a:lstStyle/>
                    <a:p>
                      <a:r>
                        <a:rPr lang="en-US" sz="800" dirty="0"/>
                        <a:t>AREA STATEMENT</a:t>
                      </a:r>
                    </a:p>
                    <a:p>
                      <a:r>
                        <a:rPr lang="en-US" sz="800" dirty="0"/>
                        <a:t>183 SQ.YDS</a:t>
                      </a:r>
                      <a:r>
                        <a:rPr lang="en-US" sz="800" baseline="0" dirty="0"/>
                        <a:t> </a:t>
                      </a:r>
                      <a:r>
                        <a:rPr lang="en-US" sz="800" dirty="0"/>
                        <a:t>(WEST VILLA)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93233" marR="93233" marT="46616" marB="46616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636686"/>
                  </a:ext>
                </a:extLst>
              </a:tr>
              <a:tr h="204148">
                <a:tc>
                  <a:txBody>
                    <a:bodyPr/>
                    <a:lstStyle/>
                    <a:p>
                      <a:r>
                        <a:rPr lang="en-US" sz="800" dirty="0"/>
                        <a:t>GROUND FLOOR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1130 SQ.FT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extLst>
                  <a:ext uri="{0D108BD9-81ED-4DB2-BD59-A6C34878D82A}">
                    <a16:rowId xmlns:a16="http://schemas.microsoft.com/office/drawing/2014/main" val="425919411"/>
                  </a:ext>
                </a:extLst>
              </a:tr>
              <a:tr h="204148">
                <a:tc>
                  <a:txBody>
                    <a:bodyPr/>
                    <a:lstStyle/>
                    <a:p>
                      <a:r>
                        <a:rPr lang="en-US" sz="800" dirty="0"/>
                        <a:t>FIRST FLOOR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1130 SQ.FT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extLst>
                  <a:ext uri="{0D108BD9-81ED-4DB2-BD59-A6C34878D82A}">
                    <a16:rowId xmlns:a16="http://schemas.microsoft.com/office/drawing/2014/main" val="2156300312"/>
                  </a:ext>
                </a:extLst>
              </a:tr>
              <a:tr h="204148">
                <a:tc>
                  <a:txBody>
                    <a:bodyPr/>
                    <a:lstStyle/>
                    <a:p>
                      <a:r>
                        <a:rPr lang="en-US" sz="800" dirty="0"/>
                        <a:t>SECOND FLOOR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910 SQ.FT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extLst>
                  <a:ext uri="{0D108BD9-81ED-4DB2-BD59-A6C34878D82A}">
                    <a16:rowId xmlns:a16="http://schemas.microsoft.com/office/drawing/2014/main" val="3998824273"/>
                  </a:ext>
                </a:extLst>
              </a:tr>
              <a:tr h="204148">
                <a:tc>
                  <a:txBody>
                    <a:bodyPr/>
                    <a:lstStyle/>
                    <a:p>
                      <a:r>
                        <a:rPr lang="en-US" sz="800" dirty="0"/>
                        <a:t>TOTAL AREA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3170 SQ.FT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extLst>
                  <a:ext uri="{0D108BD9-81ED-4DB2-BD59-A6C34878D82A}">
                    <a16:rowId xmlns:a16="http://schemas.microsoft.com/office/drawing/2014/main" val="4236375762"/>
                  </a:ext>
                </a:extLst>
              </a:tr>
            </a:tbl>
          </a:graphicData>
        </a:graphic>
      </p:graphicFrame>
      <p:sp>
        <p:nvSpPr>
          <p:cNvPr id="14" name="Text Box 1"/>
          <p:cNvSpPr txBox="1"/>
          <p:nvPr/>
        </p:nvSpPr>
        <p:spPr>
          <a:xfrm>
            <a:off x="331793" y="357158"/>
            <a:ext cx="3883025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1600" u="sng" dirty="0">
                <a:latin typeface="Bahnschrift SemiLight" pitchFamily="34" charset="0"/>
                <a:cs typeface="Calibri" panose="020F0502020204030204" charset="0"/>
                <a:sym typeface="+mn-ea"/>
              </a:rPr>
              <a:t>WEST REGULAR VILLA - 183 </a:t>
            </a:r>
            <a:r>
              <a:rPr lang="en-IN" sz="1600" u="sng" dirty="0" err="1">
                <a:latin typeface="Bahnschrift SemiLight" pitchFamily="34" charset="0"/>
                <a:cs typeface="Calibri" panose="020F0502020204030204" charset="0"/>
                <a:sym typeface="+mn-ea"/>
              </a:rPr>
              <a:t>Sqyds</a:t>
            </a:r>
            <a:endParaRPr lang="en-IN" sz="1600" u="sng" dirty="0">
              <a:latin typeface="Bahnschrift SemiLight" pitchFamily="34" charset="0"/>
              <a:cs typeface="Calibri" panose="020F0502020204030204" charset="0"/>
              <a:sym typeface="+mn-ea"/>
            </a:endParaRPr>
          </a:p>
        </p:txBody>
      </p:sp>
      <p:pic>
        <p:nvPicPr>
          <p:cNvPr id="17" name="Picture 16"/>
          <p:cNvPicPr/>
          <p:nvPr/>
        </p:nvPicPr>
        <p:blipFill>
          <a:blip r:embed="rId3" cstate="print"/>
          <a:srcRect l="27029" t="21237" r="25597" b="14991"/>
          <a:stretch>
            <a:fillRect/>
          </a:stretch>
        </p:blipFill>
        <p:spPr>
          <a:xfrm>
            <a:off x="5568016" y="7286644"/>
            <a:ext cx="504190" cy="64833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7554C90-73A0-A8EC-FDEF-75F3C3304026}"/>
              </a:ext>
            </a:extLst>
          </p:cNvPr>
          <p:cNvPicPr/>
          <p:nvPr/>
        </p:nvPicPr>
        <p:blipFill>
          <a:blip r:embed="rId4" cstate="print"/>
          <a:srcRect l="6501" r="7648" b="39870"/>
          <a:stretch>
            <a:fillRect/>
          </a:stretch>
        </p:blipFill>
        <p:spPr>
          <a:xfrm>
            <a:off x="4883785" y="7858874"/>
            <a:ext cx="1643074" cy="642942"/>
          </a:xfrm>
          <a:prstGeom prst="rect">
            <a:avLst/>
          </a:prstGeom>
        </p:spPr>
      </p:pic>
      <p:sp>
        <p:nvSpPr>
          <p:cNvPr id="21" name="Text Box 7"/>
          <p:cNvSpPr txBox="1"/>
          <p:nvPr/>
        </p:nvSpPr>
        <p:spPr>
          <a:xfrm>
            <a:off x="1689115" y="5857884"/>
            <a:ext cx="3883025" cy="226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875" u="sng" dirty="0">
                <a:latin typeface="Bahnschrift SemiLight" pitchFamily="34" charset="0"/>
                <a:cs typeface="Calibri" panose="020F0502020204030204" charset="0"/>
                <a:sym typeface="+mn-ea"/>
              </a:rPr>
              <a:t>FIRST FLOOR PLAN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14554" y="3428992"/>
            <a:ext cx="1143008" cy="285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6" name="Text Box 5"/>
          <p:cNvSpPr txBox="1"/>
          <p:nvPr/>
        </p:nvSpPr>
        <p:spPr>
          <a:xfrm>
            <a:off x="2046305" y="3357554"/>
            <a:ext cx="3883025" cy="226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875" u="sng" dirty="0">
                <a:latin typeface="Bahnschrift SemiLight" pitchFamily="34" charset="0"/>
                <a:cs typeface="Calibri" panose="020F0502020204030204" charset="0"/>
                <a:sym typeface="+mn-ea"/>
              </a:rPr>
              <a:t>GROUND FLOOR PLAN </a:t>
            </a:r>
          </a:p>
        </p:txBody>
      </p:sp>
      <p:pic>
        <p:nvPicPr>
          <p:cNvPr id="22" name="Picture 21" descr="183 WeST FIRST.jpg"/>
          <p:cNvPicPr>
            <a:picLocks noChangeAspect="1"/>
          </p:cNvPicPr>
          <p:nvPr/>
        </p:nvPicPr>
        <p:blipFill>
          <a:blip r:embed="rId5" cstate="print"/>
          <a:srcRect l="5208" t="8756" r="5208" b="8757"/>
          <a:stretch>
            <a:fillRect/>
          </a:stretch>
        </p:blipFill>
        <p:spPr>
          <a:xfrm>
            <a:off x="571480" y="3714744"/>
            <a:ext cx="3400960" cy="2214578"/>
          </a:xfrm>
          <a:prstGeom prst="rect">
            <a:avLst/>
          </a:prstGeom>
        </p:spPr>
      </p:pic>
      <p:pic>
        <p:nvPicPr>
          <p:cNvPr id="23" name="Picture 22" descr="183 WeST Second.jpg"/>
          <p:cNvPicPr>
            <a:picLocks noChangeAspect="1"/>
          </p:cNvPicPr>
          <p:nvPr/>
        </p:nvPicPr>
        <p:blipFill>
          <a:blip r:embed="rId6" cstate="print"/>
          <a:srcRect l="7291" t="10229" r="7291" b="10230"/>
          <a:stretch>
            <a:fillRect/>
          </a:stretch>
        </p:blipFill>
        <p:spPr>
          <a:xfrm>
            <a:off x="571480" y="6143636"/>
            <a:ext cx="3357586" cy="2214578"/>
          </a:xfrm>
          <a:prstGeom prst="rect">
            <a:avLst/>
          </a:prstGeom>
        </p:spPr>
      </p:pic>
      <p:sp>
        <p:nvSpPr>
          <p:cNvPr id="20" name="Text Box 6"/>
          <p:cNvSpPr txBox="1"/>
          <p:nvPr/>
        </p:nvSpPr>
        <p:spPr>
          <a:xfrm>
            <a:off x="1689115" y="8286776"/>
            <a:ext cx="3883025" cy="226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875" u="sng" dirty="0">
                <a:latin typeface="Bahnschrift SemiLight" pitchFamily="34" charset="0"/>
                <a:cs typeface="Calibri" panose="020F0502020204030204" charset="0"/>
                <a:sym typeface="+mn-ea"/>
              </a:rPr>
              <a:t>SECOND FLOOR PLAN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200 WEST GROUND copy.jpg"/>
          <p:cNvPicPr>
            <a:picLocks noChangeAspect="1"/>
          </p:cNvPicPr>
          <p:nvPr/>
        </p:nvPicPr>
        <p:blipFill>
          <a:blip r:embed="rId2" cstate="print"/>
          <a:srcRect l="9375" t="8756" r="6250" b="10230"/>
          <a:stretch>
            <a:fillRect/>
          </a:stretch>
        </p:blipFill>
        <p:spPr>
          <a:xfrm>
            <a:off x="357166" y="642910"/>
            <a:ext cx="4734391" cy="3214710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63342D4-B459-FCDB-F13D-C4529A8B2282}"/>
              </a:ext>
            </a:extLst>
          </p:cNvPr>
          <p:cNvGraphicFramePr>
            <a:graphicFrameLocks noGrp="1"/>
          </p:cNvGraphicFramePr>
          <p:nvPr/>
        </p:nvGraphicFramePr>
        <p:xfrm>
          <a:off x="4071943" y="4643438"/>
          <a:ext cx="2307808" cy="128078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8209">
                  <a:extLst>
                    <a:ext uri="{9D8B030D-6E8A-4147-A177-3AD203B41FA5}">
                      <a16:colId xmlns:a16="http://schemas.microsoft.com/office/drawing/2014/main" val="26838673"/>
                    </a:ext>
                  </a:extLst>
                </a:gridCol>
                <a:gridCol w="1139599">
                  <a:extLst>
                    <a:ext uri="{9D8B030D-6E8A-4147-A177-3AD203B41FA5}">
                      <a16:colId xmlns:a16="http://schemas.microsoft.com/office/drawing/2014/main" val="4129209491"/>
                    </a:ext>
                  </a:extLst>
                </a:gridCol>
              </a:tblGrid>
              <a:tr h="467432">
                <a:tc gridSpan="2">
                  <a:txBody>
                    <a:bodyPr/>
                    <a:lstStyle/>
                    <a:p>
                      <a:r>
                        <a:rPr lang="en-US" sz="800" dirty="0"/>
                        <a:t>AREA STATEMENT</a:t>
                      </a:r>
                    </a:p>
                    <a:p>
                      <a:r>
                        <a:rPr lang="en-US" sz="800" dirty="0"/>
                        <a:t>200 SQ.YDS</a:t>
                      </a:r>
                      <a:r>
                        <a:rPr lang="en-US" sz="800" baseline="0" dirty="0"/>
                        <a:t> </a:t>
                      </a:r>
                      <a:r>
                        <a:rPr lang="en-US" sz="800" dirty="0"/>
                        <a:t>(WEST VILLA)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93233" marR="93233" marT="46616" marB="46616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636686"/>
                  </a:ext>
                </a:extLst>
              </a:tr>
              <a:tr h="203338">
                <a:tc>
                  <a:txBody>
                    <a:bodyPr/>
                    <a:lstStyle/>
                    <a:p>
                      <a:r>
                        <a:rPr lang="en-US" sz="800" dirty="0"/>
                        <a:t>GROUND FLOOR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1280 SQ.FT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extLst>
                  <a:ext uri="{0D108BD9-81ED-4DB2-BD59-A6C34878D82A}">
                    <a16:rowId xmlns:a16="http://schemas.microsoft.com/office/drawing/2014/main" val="425919411"/>
                  </a:ext>
                </a:extLst>
              </a:tr>
              <a:tr h="203338">
                <a:tc>
                  <a:txBody>
                    <a:bodyPr/>
                    <a:lstStyle/>
                    <a:p>
                      <a:r>
                        <a:rPr lang="en-US" sz="800" dirty="0"/>
                        <a:t>FIRST FLOOR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1280 SQ.FT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extLst>
                  <a:ext uri="{0D108BD9-81ED-4DB2-BD59-A6C34878D82A}">
                    <a16:rowId xmlns:a16="http://schemas.microsoft.com/office/drawing/2014/main" val="2156300312"/>
                  </a:ext>
                </a:extLst>
              </a:tr>
              <a:tr h="203338">
                <a:tc>
                  <a:txBody>
                    <a:bodyPr/>
                    <a:lstStyle/>
                    <a:p>
                      <a:r>
                        <a:rPr lang="en-US" sz="800" dirty="0"/>
                        <a:t>SECOND FLOOR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1060 SQ.FT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extLst>
                  <a:ext uri="{0D108BD9-81ED-4DB2-BD59-A6C34878D82A}">
                    <a16:rowId xmlns:a16="http://schemas.microsoft.com/office/drawing/2014/main" val="3998824273"/>
                  </a:ext>
                </a:extLst>
              </a:tr>
              <a:tr h="203338">
                <a:tc>
                  <a:txBody>
                    <a:bodyPr/>
                    <a:lstStyle/>
                    <a:p>
                      <a:r>
                        <a:rPr lang="en-US" sz="800" dirty="0"/>
                        <a:t>TOTAL AREA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3620 SQ.FT</a:t>
                      </a:r>
                      <a:endParaRPr lang="en-IN" sz="800" dirty="0">
                        <a:solidFill>
                          <a:schemeClr val="tx1"/>
                        </a:solidFill>
                      </a:endParaRPr>
                    </a:p>
                  </a:txBody>
                  <a:tcPr marL="24687" marR="24687" marT="12355" marB="12355"/>
                </a:tc>
                <a:extLst>
                  <a:ext uri="{0D108BD9-81ED-4DB2-BD59-A6C34878D82A}">
                    <a16:rowId xmlns:a16="http://schemas.microsoft.com/office/drawing/2014/main" val="4236375762"/>
                  </a:ext>
                </a:extLst>
              </a:tr>
            </a:tbl>
          </a:graphicData>
        </a:graphic>
      </p:graphicFrame>
      <p:sp>
        <p:nvSpPr>
          <p:cNvPr id="13" name="Text Box 1"/>
          <p:cNvSpPr txBox="1"/>
          <p:nvPr/>
        </p:nvSpPr>
        <p:spPr>
          <a:xfrm>
            <a:off x="331793" y="357158"/>
            <a:ext cx="3883025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1600" u="sng" dirty="0">
                <a:latin typeface="Bahnschrift SemiLight" pitchFamily="34" charset="0"/>
                <a:cs typeface="Calibri" panose="020F0502020204030204" charset="0"/>
                <a:sym typeface="+mn-ea"/>
              </a:rPr>
              <a:t>WEST REGULAR VILLA - 200 </a:t>
            </a:r>
            <a:r>
              <a:rPr lang="en-IN" sz="1600" u="sng" dirty="0" err="1">
                <a:latin typeface="Bahnschrift SemiLight" pitchFamily="34" charset="0"/>
                <a:cs typeface="Calibri" panose="020F0502020204030204" charset="0"/>
                <a:sym typeface="+mn-ea"/>
              </a:rPr>
              <a:t>Sqyds</a:t>
            </a:r>
            <a:endParaRPr lang="en-IN" sz="1600" u="sng" dirty="0">
              <a:latin typeface="Bahnschrift SemiLight" pitchFamily="34" charset="0"/>
              <a:cs typeface="Calibri" panose="020F0502020204030204" charset="0"/>
              <a:sym typeface="+mn-ea"/>
            </a:endParaRPr>
          </a:p>
        </p:txBody>
      </p:sp>
      <p:pic>
        <p:nvPicPr>
          <p:cNvPr id="16" name="Picture 15"/>
          <p:cNvPicPr/>
          <p:nvPr/>
        </p:nvPicPr>
        <p:blipFill>
          <a:blip r:embed="rId3" cstate="print"/>
          <a:srcRect l="27029" t="21237" r="25597" b="14991"/>
          <a:stretch>
            <a:fillRect/>
          </a:stretch>
        </p:blipFill>
        <p:spPr>
          <a:xfrm>
            <a:off x="5568016" y="7286644"/>
            <a:ext cx="504190" cy="64833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7554C90-73A0-A8EC-FDEF-75F3C3304026}"/>
              </a:ext>
            </a:extLst>
          </p:cNvPr>
          <p:cNvPicPr/>
          <p:nvPr/>
        </p:nvPicPr>
        <p:blipFill>
          <a:blip r:embed="rId4" cstate="print"/>
          <a:srcRect l="6501" r="7648" b="39870"/>
          <a:stretch>
            <a:fillRect/>
          </a:stretch>
        </p:blipFill>
        <p:spPr>
          <a:xfrm>
            <a:off x="4883785" y="7858874"/>
            <a:ext cx="1643074" cy="642942"/>
          </a:xfrm>
          <a:prstGeom prst="rect">
            <a:avLst/>
          </a:prstGeom>
        </p:spPr>
      </p:pic>
      <p:sp>
        <p:nvSpPr>
          <p:cNvPr id="18" name="Text Box 6"/>
          <p:cNvSpPr txBox="1"/>
          <p:nvPr/>
        </p:nvSpPr>
        <p:spPr>
          <a:xfrm>
            <a:off x="1571612" y="8274395"/>
            <a:ext cx="3883025" cy="226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875" u="sng" dirty="0">
                <a:latin typeface="Bahnschrift SemiLight" pitchFamily="34" charset="0"/>
                <a:cs typeface="Calibri" panose="020F0502020204030204" charset="0"/>
                <a:sym typeface="+mn-ea"/>
              </a:rPr>
              <a:t>SECOND FLOOR PLAN </a:t>
            </a:r>
          </a:p>
        </p:txBody>
      </p:sp>
      <p:sp>
        <p:nvSpPr>
          <p:cNvPr id="19" name="Text Box 7"/>
          <p:cNvSpPr txBox="1"/>
          <p:nvPr/>
        </p:nvSpPr>
        <p:spPr>
          <a:xfrm>
            <a:off x="1571612" y="5916941"/>
            <a:ext cx="3883025" cy="226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875" u="sng" dirty="0">
                <a:latin typeface="Bahnschrift SemiLight" pitchFamily="34" charset="0"/>
                <a:cs typeface="Calibri" panose="020F0502020204030204" charset="0"/>
                <a:sym typeface="+mn-ea"/>
              </a:rPr>
              <a:t>FIRST FLOOR PLAN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44" y="3571868"/>
            <a:ext cx="1143008" cy="285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5" name="Text Box 5"/>
          <p:cNvSpPr txBox="1"/>
          <p:nvPr/>
        </p:nvSpPr>
        <p:spPr>
          <a:xfrm>
            <a:off x="2260619" y="3571868"/>
            <a:ext cx="3883025" cy="226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875" u="sng" dirty="0">
                <a:latin typeface="Bahnschrift SemiLight" pitchFamily="34" charset="0"/>
                <a:cs typeface="Calibri" panose="020F0502020204030204" charset="0"/>
                <a:sym typeface="+mn-ea"/>
              </a:rPr>
              <a:t>GROUND FLOOR PLAN </a:t>
            </a:r>
          </a:p>
        </p:txBody>
      </p:sp>
      <p:pic>
        <p:nvPicPr>
          <p:cNvPr id="20" name="Picture 19" descr="200 WeST FIRST.jpg"/>
          <p:cNvPicPr>
            <a:picLocks noChangeAspect="1"/>
          </p:cNvPicPr>
          <p:nvPr/>
        </p:nvPicPr>
        <p:blipFill>
          <a:blip r:embed="rId5" cstate="print"/>
          <a:srcRect l="6250" t="11702" r="6250" b="11702"/>
          <a:stretch>
            <a:fillRect/>
          </a:stretch>
        </p:blipFill>
        <p:spPr>
          <a:xfrm>
            <a:off x="500042" y="3895040"/>
            <a:ext cx="3286148" cy="2034282"/>
          </a:xfrm>
          <a:prstGeom prst="rect">
            <a:avLst/>
          </a:prstGeom>
        </p:spPr>
      </p:pic>
      <p:pic>
        <p:nvPicPr>
          <p:cNvPr id="21" name="Picture 20" descr="200 WeST Second.jpg"/>
          <p:cNvPicPr>
            <a:picLocks noChangeAspect="1"/>
          </p:cNvPicPr>
          <p:nvPr/>
        </p:nvPicPr>
        <p:blipFill>
          <a:blip r:embed="rId6" cstate="print"/>
          <a:srcRect l="4166" t="8757" r="4166" b="8756"/>
          <a:stretch>
            <a:fillRect/>
          </a:stretch>
        </p:blipFill>
        <p:spPr>
          <a:xfrm>
            <a:off x="500042" y="6215074"/>
            <a:ext cx="3326970" cy="21171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"/>
          <p:cNvSpPr txBox="1"/>
          <p:nvPr/>
        </p:nvSpPr>
        <p:spPr>
          <a:xfrm>
            <a:off x="276885" y="4099882"/>
            <a:ext cx="5240347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Bahnschrift SemiLight" pitchFamily="34" charset="0"/>
                <a:cs typeface="Calibri" panose="020F0502020204030204" charset="0"/>
                <a:sym typeface="+mn-ea"/>
              </a:rPr>
              <a:t>DAY RENDER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7554C90-73A0-A8EC-FDEF-75F3C3304026}"/>
              </a:ext>
            </a:extLst>
          </p:cNvPr>
          <p:cNvPicPr/>
          <p:nvPr/>
        </p:nvPicPr>
        <p:blipFill>
          <a:blip r:embed="rId2" cstate="print"/>
          <a:srcRect l="6501" r="7648" b="39870"/>
          <a:stretch>
            <a:fillRect/>
          </a:stretch>
        </p:blipFill>
        <p:spPr>
          <a:xfrm>
            <a:off x="4883785" y="7858874"/>
            <a:ext cx="1643074" cy="64294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8" r="2941"/>
          <a:stretch/>
        </p:blipFill>
        <p:spPr>
          <a:xfrm>
            <a:off x="404228" y="683568"/>
            <a:ext cx="4752964" cy="34709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2"/>
          <a:stretch/>
        </p:blipFill>
        <p:spPr>
          <a:xfrm>
            <a:off x="1844824" y="4355976"/>
            <a:ext cx="4805486" cy="3528393"/>
          </a:xfrm>
          <a:prstGeom prst="rect">
            <a:avLst/>
          </a:prstGeom>
        </p:spPr>
      </p:pic>
      <p:sp>
        <p:nvSpPr>
          <p:cNvPr id="18" name="Text Box 1"/>
          <p:cNvSpPr txBox="1"/>
          <p:nvPr/>
        </p:nvSpPr>
        <p:spPr>
          <a:xfrm>
            <a:off x="1772816" y="7884368"/>
            <a:ext cx="5240347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Bahnschrift SemiLight" pitchFamily="34" charset="0"/>
                <a:cs typeface="Calibri" panose="020F0502020204030204" charset="0"/>
                <a:sym typeface="+mn-ea"/>
              </a:rPr>
              <a:t>EVENING RENDER</a:t>
            </a:r>
          </a:p>
        </p:txBody>
      </p:sp>
      <p:sp>
        <p:nvSpPr>
          <p:cNvPr id="19" name="Text Box 1"/>
          <p:cNvSpPr txBox="1"/>
          <p:nvPr/>
        </p:nvSpPr>
        <p:spPr>
          <a:xfrm>
            <a:off x="276885" y="251520"/>
            <a:ext cx="5240347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2000" u="sng" dirty="0">
                <a:solidFill>
                  <a:schemeClr val="bg1">
                    <a:lumMod val="50000"/>
                  </a:schemeClr>
                </a:solidFill>
                <a:latin typeface="Bahnschrift SemiLight" pitchFamily="34" charset="0"/>
                <a:cs typeface="Calibri" panose="020F0502020204030204" charset="0"/>
                <a:sym typeface="+mn-ea"/>
              </a:rPr>
              <a:t>EAST VILLA ELEVATION RENDERS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"/>
          <p:cNvSpPr txBox="1"/>
          <p:nvPr/>
        </p:nvSpPr>
        <p:spPr>
          <a:xfrm>
            <a:off x="223809" y="4099882"/>
            <a:ext cx="5240347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Bahnschrift SemiLight" pitchFamily="34" charset="0"/>
                <a:cs typeface="Calibri" panose="020F0502020204030204" charset="0"/>
                <a:sym typeface="+mn-ea"/>
              </a:rPr>
              <a:t>DAY RENDER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7554C90-73A0-A8EC-FDEF-75F3C3304026}"/>
              </a:ext>
            </a:extLst>
          </p:cNvPr>
          <p:cNvPicPr/>
          <p:nvPr/>
        </p:nvPicPr>
        <p:blipFill>
          <a:blip r:embed="rId2" cstate="print"/>
          <a:srcRect l="6501" r="7648" b="39870"/>
          <a:stretch>
            <a:fillRect/>
          </a:stretch>
        </p:blipFill>
        <p:spPr>
          <a:xfrm>
            <a:off x="4883785" y="7858874"/>
            <a:ext cx="1643074" cy="642942"/>
          </a:xfrm>
          <a:prstGeom prst="rect">
            <a:avLst/>
          </a:prstGeom>
        </p:spPr>
      </p:pic>
      <p:sp>
        <p:nvSpPr>
          <p:cNvPr id="18" name="Text Box 1"/>
          <p:cNvSpPr txBox="1"/>
          <p:nvPr/>
        </p:nvSpPr>
        <p:spPr>
          <a:xfrm>
            <a:off x="1560240" y="7884368"/>
            <a:ext cx="5240347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Bahnschrift SemiLight" pitchFamily="34" charset="0"/>
                <a:cs typeface="Calibri" panose="020F0502020204030204" charset="0"/>
                <a:sym typeface="+mn-ea"/>
              </a:rPr>
              <a:t>EVENING RENDER</a:t>
            </a:r>
          </a:p>
        </p:txBody>
      </p:sp>
      <p:sp>
        <p:nvSpPr>
          <p:cNvPr id="19" name="Text Box 1"/>
          <p:cNvSpPr txBox="1"/>
          <p:nvPr/>
        </p:nvSpPr>
        <p:spPr>
          <a:xfrm>
            <a:off x="276885" y="251520"/>
            <a:ext cx="5240347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2000" u="sng" dirty="0">
                <a:solidFill>
                  <a:schemeClr val="bg1">
                    <a:lumMod val="50000"/>
                  </a:schemeClr>
                </a:solidFill>
                <a:latin typeface="Bahnschrift SemiLight" pitchFamily="34" charset="0"/>
                <a:cs typeface="Calibri" panose="020F0502020204030204" charset="0"/>
                <a:sym typeface="+mn-ea"/>
              </a:rPr>
              <a:t>WEST VILLA ELEVATION RENDERS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263"/>
          <a:stretch/>
        </p:blipFill>
        <p:spPr>
          <a:xfrm>
            <a:off x="348893" y="683568"/>
            <a:ext cx="4880307" cy="346016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96"/>
          <a:stretch/>
        </p:blipFill>
        <p:spPr>
          <a:xfrm>
            <a:off x="1560240" y="4411367"/>
            <a:ext cx="4966618" cy="351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770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Box 1"/>
          <p:cNvSpPr txBox="1"/>
          <p:nvPr/>
        </p:nvSpPr>
        <p:spPr>
          <a:xfrm>
            <a:off x="276885" y="179512"/>
            <a:ext cx="5240347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sz="2000" u="sng" dirty="0">
                <a:solidFill>
                  <a:schemeClr val="bg1">
                    <a:lumMod val="50000"/>
                  </a:schemeClr>
                </a:solidFill>
                <a:latin typeface="Bahnschrift SemiLight" pitchFamily="34" charset="0"/>
                <a:cs typeface="Calibri" panose="020F0502020204030204" charset="0"/>
                <a:sym typeface="+mn-ea"/>
              </a:rPr>
              <a:t>STREET RENDERS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40" y="586445"/>
            <a:ext cx="6480720" cy="38884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13" y="4528454"/>
            <a:ext cx="6477847" cy="396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84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314" y="3714744"/>
            <a:ext cx="6400800" cy="1011936"/>
          </a:xfrm>
        </p:spPr>
        <p:txBody>
          <a:bodyPr>
            <a:normAutofit/>
          </a:bodyPr>
          <a:lstStyle/>
          <a:p>
            <a:r>
              <a:rPr lang="en-US" sz="4000" dirty="0"/>
              <a:t>THANK YOU!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554C90-73A0-A8EC-FDEF-75F3C3304026}"/>
              </a:ext>
            </a:extLst>
          </p:cNvPr>
          <p:cNvPicPr/>
          <p:nvPr/>
        </p:nvPicPr>
        <p:blipFill>
          <a:blip r:embed="rId2" cstate="print"/>
          <a:srcRect l="6501" r="7648" b="39870"/>
          <a:stretch>
            <a:fillRect/>
          </a:stretch>
        </p:blipFill>
        <p:spPr>
          <a:xfrm>
            <a:off x="4500570" y="7643834"/>
            <a:ext cx="2214577" cy="857982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420</TotalTime>
  <Words>339</Words>
  <Application>Microsoft Office PowerPoint</Application>
  <PresentationFormat>On-screen Show (4:3)</PresentationFormat>
  <Paragraphs>98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Bahnschrift Light</vt:lpstr>
      <vt:lpstr>Bahnschrift SemiLight</vt:lpstr>
      <vt:lpstr>Georgia</vt:lpstr>
      <vt:lpstr>Wingdings</vt:lpstr>
      <vt:lpstr>Wingdings 2</vt:lpstr>
      <vt:lpstr>Civic</vt:lpstr>
      <vt:lpstr>MANTOOR INFRA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Hi</dc:creator>
  <cp:lastModifiedBy>DELL</cp:lastModifiedBy>
  <cp:revision>100</cp:revision>
  <dcterms:created xsi:type="dcterms:W3CDTF">2025-01-06T08:31:00Z</dcterms:created>
  <dcterms:modified xsi:type="dcterms:W3CDTF">2026-05-28T05:30:56Z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9BB21A527EFB45BB81A734C4513CE3EC_13</vt:lpwstr>
  </property>
  <property fmtid="{D5CDD505-2E9C-101B-9397-08002B2CF9AE}" pid="3" name="KSOProductBuildVer">
    <vt:lpwstr>1033-12.2.0.18638</vt:lpwstr>
  </property>
</Properties>
</file>